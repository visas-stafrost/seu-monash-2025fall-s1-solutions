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65" r:id="rId2"/>
    <p:sldId id="273" r:id="rId3"/>
  </p:sldIdLst>
  <p:sldSz cx="9144000" cy="6858000" type="screen4x3"/>
  <p:notesSz cx="6400800" cy="86868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201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3300"/>
    <a:srgbClr val="006800"/>
    <a:srgbClr val="00CC00"/>
    <a:srgbClr val="FF5050"/>
    <a:srgbClr val="004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1" autoAdjust="0"/>
    <p:restoredTop sz="90554" autoAdjust="0"/>
  </p:normalViewPr>
  <p:slideViewPr>
    <p:cSldViewPr>
      <p:cViewPr varScale="1">
        <p:scale>
          <a:sx n="77" d="100"/>
          <a:sy n="77" d="100"/>
        </p:scale>
        <p:origin x="15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7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3534"/>
    </p:cViewPr>
  </p:sorterViewPr>
  <p:notesViewPr>
    <p:cSldViewPr>
      <p:cViewPr varScale="1">
        <p:scale>
          <a:sx n="69" d="100"/>
          <a:sy n="69" d="100"/>
        </p:scale>
        <p:origin x="-2754" y="-96"/>
      </p:cViewPr>
      <p:guideLst>
        <p:guide orient="horz" pos="2736"/>
        <p:guide pos="20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773680" cy="434340"/>
          </a:xfrm>
          <a:prstGeom prst="rect">
            <a:avLst/>
          </a:prstGeom>
        </p:spPr>
        <p:txBody>
          <a:bodyPr vert="horz" lIns="86211" tIns="43106" rIns="86211" bIns="43106" rtlCol="0"/>
          <a:lstStyle>
            <a:lvl1pPr algn="l">
              <a:defRPr sz="11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625639" y="1"/>
            <a:ext cx="2773680" cy="434340"/>
          </a:xfrm>
          <a:prstGeom prst="rect">
            <a:avLst/>
          </a:prstGeom>
        </p:spPr>
        <p:txBody>
          <a:bodyPr vert="horz" lIns="86211" tIns="43106" rIns="86211" bIns="43106" rtlCol="0"/>
          <a:lstStyle>
            <a:lvl1pPr algn="r">
              <a:defRPr sz="1100"/>
            </a:lvl1pPr>
          </a:lstStyle>
          <a:p>
            <a:fld id="{E0354465-BB34-47B0-B2C0-DE63A6C7C22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250953"/>
            <a:ext cx="2773680" cy="434340"/>
          </a:xfrm>
          <a:prstGeom prst="rect">
            <a:avLst/>
          </a:prstGeom>
        </p:spPr>
        <p:txBody>
          <a:bodyPr vert="horz" lIns="86211" tIns="43106" rIns="86211" bIns="43106" rtlCol="0" anchor="b"/>
          <a:lstStyle>
            <a:lvl1pPr algn="l">
              <a:defRPr sz="11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625639" y="8250953"/>
            <a:ext cx="2773680" cy="434340"/>
          </a:xfrm>
          <a:prstGeom prst="rect">
            <a:avLst/>
          </a:prstGeom>
        </p:spPr>
        <p:txBody>
          <a:bodyPr vert="horz" lIns="86211" tIns="43106" rIns="86211" bIns="43106" rtlCol="0" anchor="b"/>
          <a:lstStyle>
            <a:lvl1pPr algn="r">
              <a:defRPr sz="1100"/>
            </a:lvl1pPr>
          </a:lstStyle>
          <a:p>
            <a:fld id="{8058F172-1393-4DE5-B583-61FF8DA1C6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5322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773680" cy="434340"/>
          </a:xfrm>
          <a:prstGeom prst="rect">
            <a:avLst/>
          </a:prstGeom>
        </p:spPr>
        <p:txBody>
          <a:bodyPr vert="horz" lIns="86211" tIns="43106" rIns="86211" bIns="43106" rtlCol="0"/>
          <a:lstStyle>
            <a:lvl1pPr algn="l">
              <a:defRPr sz="11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625639" y="1"/>
            <a:ext cx="2773680" cy="434340"/>
          </a:xfrm>
          <a:prstGeom prst="rect">
            <a:avLst/>
          </a:prstGeom>
        </p:spPr>
        <p:txBody>
          <a:bodyPr vert="horz" lIns="86211" tIns="43106" rIns="86211" bIns="43106" rtlCol="0"/>
          <a:lstStyle>
            <a:lvl1pPr algn="r">
              <a:defRPr sz="1100"/>
            </a:lvl1pPr>
          </a:lstStyle>
          <a:p>
            <a:fld id="{64A828BC-E830-4462-BFC6-0E2A3F5D4D02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30288" y="652463"/>
            <a:ext cx="4340225" cy="3255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6211" tIns="43106" rIns="86211" bIns="43106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40080" y="4126230"/>
            <a:ext cx="5120640" cy="3909060"/>
          </a:xfrm>
          <a:prstGeom prst="rect">
            <a:avLst/>
          </a:prstGeom>
        </p:spPr>
        <p:txBody>
          <a:bodyPr vert="horz" lIns="86211" tIns="43106" rIns="86211" bIns="43106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250953"/>
            <a:ext cx="2773680" cy="434340"/>
          </a:xfrm>
          <a:prstGeom prst="rect">
            <a:avLst/>
          </a:prstGeom>
        </p:spPr>
        <p:txBody>
          <a:bodyPr vert="horz" lIns="86211" tIns="43106" rIns="86211" bIns="43106" rtlCol="0" anchor="b"/>
          <a:lstStyle>
            <a:lvl1pPr algn="l">
              <a:defRPr sz="11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625639" y="8250953"/>
            <a:ext cx="2773680" cy="434340"/>
          </a:xfrm>
          <a:prstGeom prst="rect">
            <a:avLst/>
          </a:prstGeom>
        </p:spPr>
        <p:txBody>
          <a:bodyPr vert="horz" lIns="86211" tIns="43106" rIns="86211" bIns="43106" rtlCol="0" anchor="b"/>
          <a:lstStyle>
            <a:lvl1pPr algn="r">
              <a:defRPr sz="1100"/>
            </a:lvl1pPr>
          </a:lstStyle>
          <a:p>
            <a:fld id="{264F7B9E-D03B-4AFE-8D86-75E5660F6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12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,the observation x could</a:t>
            </a:r>
            <a:r>
              <a:rPr lang="en-US" altLang="zh-CN" baseline="0" dirty="0"/>
              <a:t> also be discrete random variable.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7570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1DEE7B2-CE6E-4F43-B927-6C8C4A9A3EF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9879" name="Freeform 7"/>
          <p:cNvSpPr>
            <a:spLocks noChangeArrowheads="1"/>
          </p:cNvSpPr>
          <p:nvPr/>
        </p:nvSpPr>
        <p:spPr bwMode="auto">
          <a:xfrm>
            <a:off x="609600" y="404664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9880" name="Line 8"/>
          <p:cNvSpPr>
            <a:spLocks noChangeShapeType="1"/>
          </p:cNvSpPr>
          <p:nvPr/>
        </p:nvSpPr>
        <p:spPr bwMode="auto">
          <a:xfrm>
            <a:off x="1981200" y="2420888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2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909041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E801AF-8F3B-4E70-BEA5-85D559EE423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49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30F329F-E39A-4B24-9E9C-64E08641637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453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EDAC09E-59FF-4361-8A23-F9598D49BDD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64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8351E37-C4AF-43CC-8BA4-2FEE1BDD70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D492537-139B-40F0-A1E9-C4CDF309150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713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C8777E-9060-441D-B40D-3741229B022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51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43E67F4-B764-470A-976E-7B0B57B26DD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46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1389D8-A402-4B7F-8A58-A56C923822A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59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331640" y="5085184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B8DEC2A-7C4E-4A36-A6C5-4A721F4B697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78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885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57200" y="6319259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385145" y="6421863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omic Sans MS" pitchFamily="66" charset="0"/>
              </a:rPr>
              <a:t>Pattern Recognition</a:t>
            </a:r>
            <a:endParaRPr lang="zh-CN" altLang="en-US" sz="2400" dirty="0">
              <a:latin typeface="Comic Sans MS" pitchFamily="66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204905" y="6421863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onstantia" pitchFamily="18" charset="0"/>
              </a:rPr>
              <a:t>Soochow, Fall</a:t>
            </a:r>
            <a:r>
              <a:rPr lang="en-US" altLang="zh-CN" sz="1800" baseline="0" dirty="0">
                <a:latin typeface="Constantia" pitchFamily="18" charset="0"/>
              </a:rPr>
              <a:t> Semester</a:t>
            </a:r>
            <a:endParaRPr lang="zh-CN" altLang="en-US" sz="2400" dirty="0">
              <a:latin typeface="Constantia" pitchFamily="18" charset="0"/>
            </a:endParaRPr>
          </a:p>
        </p:txBody>
      </p:sp>
      <p:pic>
        <p:nvPicPr>
          <p:cNvPr id="15" name="Picture 25" descr="seu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DFEF9"/>
              </a:clrFrom>
              <a:clrTo>
                <a:srgbClr val="FDFE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737" y="6396336"/>
            <a:ext cx="419543" cy="420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 userDrawn="1"/>
        </p:nvSpPr>
        <p:spPr>
          <a:xfrm>
            <a:off x="7956376" y="6421863"/>
            <a:ext cx="7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FA8EAC-0B5F-445A-A639-4DC8DC2B393C}" type="slidenum">
              <a:rPr lang="zh-CN" altLang="en-US" sz="1800" smtClean="0">
                <a:latin typeface="Constantia" pitchFamily="18" charset="0"/>
              </a:rPr>
              <a:pPr algn="r"/>
              <a:t>‹#›</a:t>
            </a:fld>
            <a:endParaRPr lang="zh-CN" altLang="en-US" sz="2400" dirty="0"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12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 baseline="0">
          <a:solidFill>
            <a:schemeClr val="tx1"/>
          </a:solidFill>
          <a:latin typeface="Constantia" pitchFamily="18" charset="0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 baseline="0">
          <a:solidFill>
            <a:schemeClr val="tx1"/>
          </a:solidFill>
          <a:latin typeface="Constantia" pitchFamily="18" charset="0"/>
          <a:ea typeface="+mn-ea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 baseline="0">
          <a:solidFill>
            <a:schemeClr val="tx1"/>
          </a:solidFill>
          <a:latin typeface="Constantia" pitchFamily="18" charset="0"/>
          <a:ea typeface="+mn-ea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 baseline="0">
          <a:solidFill>
            <a:schemeClr val="tx1"/>
          </a:solidFill>
          <a:latin typeface="Constantia" pitchFamily="18" charset="0"/>
          <a:ea typeface="+mn-ea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aseline="0">
          <a:solidFill>
            <a:schemeClr val="tx1"/>
          </a:solidFill>
          <a:latin typeface="Constantia" pitchFamily="18" charset="0"/>
          <a:ea typeface="+mn-ea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5616" y="2056780"/>
            <a:ext cx="7488832" cy="329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dirty="0">
                <a:solidFill>
                  <a:srgbClr val="C00000"/>
                </a:solidFill>
                <a:latin typeface="Comic Sans MS" pitchFamily="66" charset="0"/>
              </a:rPr>
              <a:t>Quiz</a:t>
            </a:r>
            <a:endParaRPr lang="en-US" altLang="zh-CN" sz="4800" dirty="0">
              <a:latin typeface="Comic Sans MS" pitchFamily="66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800" dirty="0">
                <a:solidFill>
                  <a:srgbClr val="0000CC"/>
                </a:solidFill>
                <a:latin typeface="Comic Sans MS" pitchFamily="66" charset="0"/>
              </a:rPr>
              <a:t>Bayesian Decision Theory</a:t>
            </a:r>
          </a:p>
          <a:p>
            <a:pPr algn="ctr">
              <a:lnSpc>
                <a:spcPct val="150000"/>
              </a:lnSpc>
            </a:pPr>
            <a:r>
              <a:rPr lang="en-US" altLang="zh-CN" sz="4800" dirty="0">
                <a:solidFill>
                  <a:srgbClr val="0000CC"/>
                </a:solidFill>
                <a:latin typeface="Comic Sans MS" pitchFamily="66" charset="0"/>
              </a:rPr>
              <a:t>&amp;</a:t>
            </a:r>
            <a:r>
              <a:rPr lang="en-US" altLang="zh-CN" sz="4800" b="1" dirty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altLang="zh-CN" sz="4800" dirty="0">
                <a:solidFill>
                  <a:srgbClr val="0000CC"/>
                </a:solidFill>
                <a:latin typeface="Comic Sans MS" pitchFamily="66" charset="0"/>
              </a:rPr>
              <a:t>Parametric Estimation</a:t>
            </a:r>
            <a:endParaRPr lang="zh-CN" altLang="en-US" sz="4800" dirty="0">
              <a:solidFill>
                <a:srgbClr val="0000CC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667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1411" y="1086603"/>
            <a:ext cx="2846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Constantia" pitchFamily="18" charset="0"/>
              </a:rPr>
              <a:t>Question 1</a:t>
            </a:r>
            <a:endParaRPr lang="zh-CN" altLang="en-US" sz="2800" b="1" dirty="0">
              <a:solidFill>
                <a:srgbClr val="0000CC"/>
              </a:solidFill>
              <a:latin typeface="Constantia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A8DD78E-C47C-839B-3F79-C4EAA04546DC}"/>
              </a:ext>
            </a:extLst>
          </p:cNvPr>
          <p:cNvSpPr txBox="1"/>
          <p:nvPr/>
        </p:nvSpPr>
        <p:spPr>
          <a:xfrm>
            <a:off x="457200" y="2737953"/>
            <a:ext cx="2846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Constantia" pitchFamily="18" charset="0"/>
              </a:rPr>
              <a:t>Question 2</a:t>
            </a:r>
            <a:endParaRPr lang="zh-CN" altLang="en-US" sz="2800" b="1" dirty="0">
              <a:solidFill>
                <a:srgbClr val="0000CC"/>
              </a:solidFill>
              <a:latin typeface="Constantia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52C1B32-F79E-E0BA-2591-49235711D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742338"/>
            <a:ext cx="7128792" cy="7230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BA2C089-BAFE-CF8C-B881-0BE1D5348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3267866"/>
            <a:ext cx="6087068" cy="26814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EE8E719-4D34-C711-ECE0-62864243F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088" y="3435043"/>
            <a:ext cx="3842245" cy="252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09754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00CC"/>
          </a:solidFill>
        </a:ln>
      </a:spPr>
      <a:bodyPr rtlCol="0" anchor="ctr"/>
      <a:lstStyle>
        <a:defPPr algn="ctr">
          <a:defRPr dirty="0" smtClean="0">
            <a:solidFill>
              <a:srgbClr val="004623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prstDash val="solid"/>
          <a:headEnd type="none" w="med" len="me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400" dirty="0" smtClean="0">
            <a:latin typeface="Constantia" pitchFamily="18" charset="0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TC010113062[[fn=人类主题]]</Template>
  <TotalTime>43757</TotalTime>
  <Words>24</Words>
  <Application>Microsoft Office PowerPoint</Application>
  <PresentationFormat>全屏显示(4:3)</PresentationFormat>
  <Paragraphs>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Calibri</vt:lpstr>
      <vt:lpstr>Comic Sans MS</vt:lpstr>
      <vt:lpstr>Constantia</vt:lpstr>
      <vt:lpstr>Garamond</vt:lpstr>
      <vt:lpstr>Wingdings</vt:lpstr>
      <vt:lpstr>Edge</vt:lpstr>
      <vt:lpstr>PowerPoint 演示文稿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zhangml</dc:creator>
  <cp:lastModifiedBy>Pengfei Fang</cp:lastModifiedBy>
  <cp:revision>3010</cp:revision>
  <cp:lastPrinted>2016-09-17T15:40:53Z</cp:lastPrinted>
  <dcterms:created xsi:type="dcterms:W3CDTF">2010-10-17T15:12:34Z</dcterms:created>
  <dcterms:modified xsi:type="dcterms:W3CDTF">2023-10-16T06:44:24Z</dcterms:modified>
</cp:coreProperties>
</file>